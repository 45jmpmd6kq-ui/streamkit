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14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98000" cy="6858000"/>
          </a:xfrm>
          <a:prstGeom prst="rect">
            <a:avLst/>
          </a:prstGeom>
          <a:solidFill>
            <a:srgbClr val="A97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52000" y="1944000"/>
            <a:ext cx="10032119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A970FF"/>
                </a:solidFill>
                <a:latin typeface="Segoe UI"/>
              </a:rPr>
              <a:t>TES OUTILS DE STREAM, EN UN SEUL ENDROIT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000" y="2376000"/>
            <a:ext cx="10032119" cy="10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600" b="1">
                <a:solidFill>
                  <a:srgbClr val="F3F1F8"/>
                </a:solidFill>
                <a:latin typeface="Segoe UI"/>
              </a:rPr>
              <a:t>StreamKit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000" y="3744000"/>
            <a:ext cx="7380000" cy="10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A49EB6"/>
                </a:solidFill>
                <a:latin typeface="Segoe UI"/>
              </a:rPr>
              <a:t>Une application à installer une fois. Des modules à activer selon le jeu. Des corrections qui arrivent toutes seules, sans rien reconfigurer.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000" y="5256000"/>
            <a:ext cx="20400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"/>
              </a:spcAft>
            </a:pPr>
            <a:r>
              <a:rPr sz="2400" b="1">
                <a:solidFill>
                  <a:srgbClr val="A970FF"/>
                </a:solidFill>
                <a:latin typeface="Segoe UI"/>
              </a:rPr>
              <a:t>0.9.1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A49EB6"/>
                </a:solidFill>
                <a:latin typeface="Segoe UI"/>
              </a:rPr>
              <a:t>version publiée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72000" y="5256000"/>
            <a:ext cx="20400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"/>
              </a:spcAft>
            </a:pPr>
            <a:r>
              <a:rPr sz="2400" b="1">
                <a:solidFill>
                  <a:srgbClr val="A970FF"/>
                </a:solidFill>
                <a:latin typeface="Segoe UI"/>
              </a:rPr>
              <a:t>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A49EB6"/>
                </a:solidFill>
                <a:latin typeface="Segoe UI"/>
              </a:rPr>
              <a:t>modules disponibles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92000" y="5256000"/>
            <a:ext cx="20400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"/>
              </a:spcAft>
            </a:pPr>
            <a:r>
              <a:rPr sz="2400" b="1">
                <a:solidFill>
                  <a:srgbClr val="A970FF"/>
                </a:solidFill>
                <a:latin typeface="Segoe UI"/>
              </a:rPr>
              <a:t>2 min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A49EB6"/>
                </a:solidFill>
                <a:latin typeface="Segoe UI"/>
              </a:rPr>
              <a:t>pour installer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0000" y="6372000"/>
            <a:ext cx="1075211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A49EB6"/>
                </a:solidFill>
                <a:latin typeface="Segoe UI"/>
              </a:rPr>
              <a:t>Windows · septembre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14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20000" y="540000"/>
            <a:ext cx="1075211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970FF"/>
                </a:solidFill>
                <a:latin typeface="Segoe UI"/>
              </a:rPr>
              <a:t>LE POINT DE DÉPART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0000" y="846000"/>
            <a:ext cx="10752119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F3F1F8"/>
                </a:solidFill>
                <a:latin typeface="Segoe UI"/>
              </a:rPr>
              <a:t>Aujourd’hui, chaque outil vit dans son coin</a:t>
            </a:r>
          </a:p>
        </p:txBody>
      </p:sp>
      <p:sp>
        <p:nvSpPr>
          <p:cNvPr id="5" name="Rectangle 4"/>
          <p:cNvSpPr/>
          <p:nvPr/>
        </p:nvSpPr>
        <p:spPr>
          <a:xfrm>
            <a:off x="720000" y="1404000"/>
            <a:ext cx="936000" cy="32400"/>
          </a:xfrm>
          <a:prstGeom prst="rect">
            <a:avLst/>
          </a:prstGeom>
          <a:solidFill>
            <a:srgbClr val="A97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0000" y="1602000"/>
            <a:ext cx="8816738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A49EB6"/>
                </a:solidFill>
                <a:latin typeface="Segoe UI"/>
              </a:rPr>
              <a:t>Quatre outils, quatre dossiers, quatre façons de les lancer — et un correctif qui se distribue à la main.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0000" y="2214000"/>
            <a:ext cx="2539530" cy="2196000"/>
          </a:xfrm>
          <a:prstGeom prst="roundRect">
            <a:avLst>
              <a:gd name="adj" fmla="val 6000"/>
            </a:avLst>
          </a:prstGeom>
          <a:solidFill>
            <a:srgbClr val="1E1B26"/>
          </a:solidFill>
          <a:ln w="12700">
            <a:solidFill>
              <a:srgbClr val="332D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6000" rIns="216000" tIns="198000" bIns="18000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>
                <a:solidFill>
                  <a:srgbClr val="F3F1F8"/>
                </a:solidFill>
                <a:latin typeface="Segoe UI"/>
              </a:rPr>
              <a:t>📁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F3F1F8"/>
                </a:solidFill>
                <a:latin typeface="Segoe UI"/>
              </a:rPr>
              <a:t>Un dossier par outil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49EB6"/>
                </a:solidFill>
                <a:latin typeface="Segoe UI"/>
              </a:rPr>
              <a:t>Bot musique ici, roue Rocket League là, overlay Valorant ailleurs. Autant de raccourcis et de fenêtres noires.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57530" y="2214000"/>
            <a:ext cx="2539530" cy="2196000"/>
          </a:xfrm>
          <a:prstGeom prst="roundRect">
            <a:avLst>
              <a:gd name="adj" fmla="val 6000"/>
            </a:avLst>
          </a:prstGeom>
          <a:solidFill>
            <a:srgbClr val="1E1B26"/>
          </a:solidFill>
          <a:ln w="12700">
            <a:solidFill>
              <a:srgbClr val="332D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6000" rIns="216000" tIns="198000" bIns="18000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>
                <a:solidFill>
                  <a:srgbClr val="F3F1F8"/>
                </a:solidFill>
                <a:latin typeface="Segoe UI"/>
              </a:rPr>
              <a:t>⚙️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F3F1F8"/>
                </a:solidFill>
                <a:latin typeface="Segoe UI"/>
              </a:rPr>
              <a:t>Une configuration par outil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49EB6"/>
                </a:solidFill>
                <a:latin typeface="Segoe UI"/>
              </a:rPr>
              <a:t>Les mêmes identifiants Twitch recopiés dans chaque outil, à chaque réinstallation.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5060" y="2214000"/>
            <a:ext cx="2539530" cy="2196000"/>
          </a:xfrm>
          <a:prstGeom prst="roundRect">
            <a:avLst>
              <a:gd name="adj" fmla="val 6000"/>
            </a:avLst>
          </a:prstGeom>
          <a:solidFill>
            <a:srgbClr val="1E1B26"/>
          </a:solidFill>
          <a:ln w="12700">
            <a:solidFill>
              <a:srgbClr val="332D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6000" rIns="216000" tIns="198000" bIns="18000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>
                <a:solidFill>
                  <a:srgbClr val="F3F1F8"/>
                </a:solidFill>
                <a:latin typeface="Segoe UI"/>
              </a:rPr>
              <a:t>📦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F3F1F8"/>
                </a:solidFill>
                <a:latin typeface="Segoe UI"/>
              </a:rPr>
              <a:t>Un correctif = tout renvoyer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49EB6"/>
                </a:solidFill>
                <a:latin typeface="Segoe UI"/>
              </a:rPr>
              <a:t>Un zip, un message, et l’espoir que personne n’écrase ses réglages en décompressant.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32590" y="2214000"/>
            <a:ext cx="2539530" cy="2196000"/>
          </a:xfrm>
          <a:prstGeom prst="roundRect">
            <a:avLst>
              <a:gd name="adj" fmla="val 6000"/>
            </a:avLst>
          </a:prstGeom>
          <a:solidFill>
            <a:srgbClr val="1E1B26"/>
          </a:solidFill>
          <a:ln w="12700">
            <a:solidFill>
              <a:srgbClr val="332D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6000" rIns="216000" tIns="198000" bIns="18000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>
                <a:solidFill>
                  <a:srgbClr val="F3F1F8"/>
                </a:solidFill>
                <a:latin typeface="Segoe UI"/>
              </a:rPr>
              <a:t>❓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F3F1F8"/>
                </a:solidFill>
                <a:latin typeface="Segoe UI"/>
              </a:rPr>
              <a:t>Aucune visibilité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49EB6"/>
                </a:solidFill>
                <a:latin typeface="Segoe UI"/>
              </a:rPr>
              <a:t>Est-ce que ça tourne ? On l’apprend quand le chat le fait remarquer.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0000" y="4643999"/>
            <a:ext cx="10752119" cy="720000"/>
          </a:xfrm>
          <a:prstGeom prst="roundRect">
            <a:avLst>
              <a:gd name="adj" fmla="val 8000"/>
            </a:avLst>
          </a:prstGeom>
          <a:solidFill>
            <a:srgbClr val="262232"/>
          </a:solidFill>
          <a:ln w="12700">
            <a:solidFill>
              <a:srgbClr val="E0A3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0000" rIns="216000" tIns="162000" bIns="14400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>
                <a:solidFill>
                  <a:srgbClr val="E0A33E"/>
                </a:solidFill>
                <a:latin typeface="Segoe UI"/>
              </a:rPr>
              <a:t>Le vrai coût n’est pas l’installation, c’est la maintenance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3F1F8"/>
                </a:solidFill>
                <a:latin typeface="Segoe UI"/>
              </a:rPr>
              <a:t>Chaque correction se paie en messages, en captures d’écran et en « ça remarche pas chez moi ».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0000" y="4643999"/>
            <a:ext cx="46800" cy="720000"/>
          </a:xfrm>
          <a:prstGeom prst="rect">
            <a:avLst/>
          </a:prstGeom>
          <a:solidFill>
            <a:srgbClr val="E0A3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32119" y="6372000"/>
            <a:ext cx="144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35D75"/>
                </a:solidFill>
                <a:latin typeface="Segoe UI"/>
              </a:rPr>
              <a:t>2 / 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14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20000" y="540000"/>
            <a:ext cx="1075211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970FF"/>
                </a:solidFill>
                <a:latin typeface="Segoe UI"/>
              </a:rPr>
              <a:t>LA RÉPONSE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0000" y="846000"/>
            <a:ext cx="10752119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F3F1F8"/>
                </a:solidFill>
                <a:latin typeface="Segoe UI"/>
              </a:rPr>
              <a:t>StreamKit, en une phrase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720000" y="1404000"/>
            <a:ext cx="936000" cy="32400"/>
          </a:xfrm>
          <a:prstGeom prst="rect">
            <a:avLst/>
          </a:prstGeom>
          <a:solidFill>
            <a:srgbClr val="A97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20000" y="1782000"/>
            <a:ext cx="10752119" cy="1512000"/>
          </a:xfrm>
          <a:prstGeom prst="roundRect">
            <a:avLst>
              <a:gd name="adj" fmla="val 5000"/>
            </a:avLst>
          </a:prstGeom>
          <a:solidFill>
            <a:srgbClr val="1E1B26"/>
          </a:solidFill>
          <a:ln w="15875">
            <a:solidFill>
              <a:srgbClr val="A97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3999" rIns="503999"/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2500" b="0">
                <a:solidFill>
                  <a:srgbClr val="F3F1F8"/>
                </a:solidFill>
                <a:latin typeface="Segoe UI"/>
              </a:rPr>
              <a:t>Une seule application qui contient tous tes outils, </a:t>
            </a:r>
            <a:r>
              <a:rPr sz="2500" b="1">
                <a:solidFill>
                  <a:srgbClr val="A970FF"/>
                </a:solidFill>
                <a:latin typeface="Segoe UI"/>
              </a:rPr>
              <a:t>et qui se met à jour toute seule.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0000" y="3546000"/>
            <a:ext cx="3452039" cy="1440000"/>
          </a:xfrm>
          <a:prstGeom prst="roundRect">
            <a:avLst>
              <a:gd name="adj" fmla="val 6000"/>
            </a:avLst>
          </a:prstGeom>
          <a:solidFill>
            <a:srgbClr val="1E1B26"/>
          </a:solidFill>
          <a:ln w="12700">
            <a:solidFill>
              <a:srgbClr val="332D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6000" rIns="216000" tIns="198000" bIns="18000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A970FF"/>
                </a:solidFill>
                <a:latin typeface="Segoe UI"/>
              </a:rPr>
              <a:t>1 · Tu installes une fois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49EB6"/>
                </a:solidFill>
                <a:latin typeface="Segoe UI"/>
              </a:rPr>
              <a:t>Un fichier .exe, un double-clic. Pas de Node.js, pas de ligne de commande, pas de droits administrateur.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70040" y="3546000"/>
            <a:ext cx="3452039" cy="1440000"/>
          </a:xfrm>
          <a:prstGeom prst="roundRect">
            <a:avLst>
              <a:gd name="adj" fmla="val 6000"/>
            </a:avLst>
          </a:prstGeom>
          <a:solidFill>
            <a:srgbClr val="1E1B26"/>
          </a:solidFill>
          <a:ln w="12700">
            <a:solidFill>
              <a:srgbClr val="332D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6000" rIns="216000" tIns="198000" bIns="18000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A970FF"/>
                </a:solidFill>
                <a:latin typeface="Segoe UI"/>
              </a:rPr>
              <a:t>2 · Tu actives ce que tu veux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49EB6"/>
                </a:solidFill>
                <a:latin typeface="Segoe UI"/>
              </a:rPr>
              <a:t>Les modules sont rangés par jeu. Tu allumes le bot musique, tu laisses le reste éteint : rien ne tourne pour rien.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20079" y="3546000"/>
            <a:ext cx="3452039" cy="1440000"/>
          </a:xfrm>
          <a:prstGeom prst="roundRect">
            <a:avLst>
              <a:gd name="adj" fmla="val 6000"/>
            </a:avLst>
          </a:prstGeom>
          <a:solidFill>
            <a:srgbClr val="1E1B26"/>
          </a:solidFill>
          <a:ln w="12700">
            <a:solidFill>
              <a:srgbClr val="332D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6000" rIns="216000" tIns="198000" bIns="18000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A970FF"/>
                </a:solidFill>
                <a:latin typeface="Segoe UI"/>
              </a:rPr>
              <a:t>3 · Je corrige, tu reçois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49EB6"/>
                </a:solidFill>
                <a:latin typeface="Segoe UI"/>
              </a:rPr>
              <a:t>Un bouton apparaît dans ta fenêtre. Un clic, StreamKit redémarre à jour, et tes réglages sont toujours là.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0000" y="6372000"/>
            <a:ext cx="1075211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A49EB6"/>
                </a:solidFill>
                <a:latin typeface="Segoe UI"/>
              </a:rPr>
              <a:t>Le socle est commun : une seule connexion Twitch, un seul journal, un seul écran de réglages pour tous les modules.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32119" y="6372000"/>
            <a:ext cx="144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35D75"/>
                </a:solidFill>
                <a:latin typeface="Segoe UI"/>
              </a:rPr>
              <a:t>3 / 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14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20000" y="540000"/>
            <a:ext cx="1075211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970FF"/>
                </a:solidFill>
                <a:latin typeface="Segoe UI"/>
              </a:rPr>
              <a:t>CE QU’IL Y A DEDANS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0000" y="846000"/>
            <a:ext cx="10752119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F3F1F8"/>
                </a:solidFill>
                <a:latin typeface="Segoe UI"/>
              </a:rPr>
              <a:t>Les modules, rangés par jeu</a:t>
            </a:r>
          </a:p>
        </p:txBody>
      </p:sp>
      <p:sp>
        <p:nvSpPr>
          <p:cNvPr id="5" name="Rectangle 4"/>
          <p:cNvSpPr/>
          <p:nvPr/>
        </p:nvSpPr>
        <p:spPr>
          <a:xfrm>
            <a:off x="720000" y="1404000"/>
            <a:ext cx="936000" cy="32400"/>
          </a:xfrm>
          <a:prstGeom prst="rect">
            <a:avLst/>
          </a:prstGeom>
          <a:solidFill>
            <a:srgbClr val="A97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0000" y="1602000"/>
            <a:ext cx="8816738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A49EB6"/>
                </a:solidFill>
                <a:latin typeface="Segoe UI"/>
              </a:rPr>
              <a:t>Un module = une fonctionnalité. La colonne de gauche est ta télécommande.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800" y="2188799"/>
            <a:ext cx="2231503" cy="3542400"/>
          </a:xfrm>
          <a:prstGeom prst="roundRect">
            <a:avLst>
              <a:gd name="adj" fmla="val 3000"/>
            </a:avLst>
          </a:prstGeom>
          <a:noFill/>
          <a:ln w="12700">
            <a:solidFill>
              <a:srgbClr val="332D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8" name="Picture 7" descr="c-r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000" y="2231999"/>
            <a:ext cx="2145103" cy="3456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096000" y="2231999"/>
            <a:ext cx="8376119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A970FF"/>
                </a:solidFill>
                <a:latin typeface="Segoe UI"/>
              </a:rPr>
              <a:t>🟣  Twitch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76000" y="2519999"/>
            <a:ext cx="8196119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F3F1F8"/>
                </a:solidFill>
                <a:latin typeface="Segoe UI"/>
              </a:rPr>
              <a:t>Clips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49EB6"/>
                </a:solidFill>
                <a:latin typeface="Segoe UI"/>
              </a:rPr>
              <a:t>La commande !clip découpe les 30 dernières secondes. Ce qui est écrit après devient le titre du clip.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76000" y="3096000"/>
            <a:ext cx="8196119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F3F1F8"/>
                </a:solidFill>
                <a:latin typeface="Segoe UI"/>
              </a:rPr>
              <a:t>Bot Musique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49EB6"/>
                </a:solidFill>
                <a:latin typeface="Segoe UI"/>
              </a:rPr>
              <a:t>Les viewers dépensent leurs points de chaîne, le morceau part dans ta file Spotify. Refus et passage inclus.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96000" y="3707999"/>
            <a:ext cx="8376119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62A8FF"/>
                </a:solidFill>
                <a:latin typeface="Segoe UI"/>
              </a:rPr>
              <a:t>🚀  Rocket League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76000" y="3996000"/>
            <a:ext cx="8196119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F3F1F8"/>
                </a:solidFill>
                <a:latin typeface="Segoe UI"/>
              </a:rPr>
              <a:t>Roue des voitures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49EB6"/>
                </a:solidFill>
                <a:latin typeface="Segoe UI"/>
              </a:rPr>
              <a:t>Une récompense tire une carrosserie au hasard parmi celles que tu possèdes, en machine à sous sur l’overlay.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96000" y="4608000"/>
            <a:ext cx="8376119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6B6B"/>
                </a:solidFill>
                <a:latin typeface="Segoe UI"/>
              </a:rPr>
              <a:t>🔫  Valorant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76000" y="4896000"/>
            <a:ext cx="8196119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F3F1F8"/>
                </a:solidFill>
                <a:latin typeface="Segoe UI"/>
              </a:rPr>
              <a:t>Bandeau de session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49EB6"/>
                </a:solidFill>
                <a:latin typeface="Segoe UI"/>
              </a:rPr>
              <a:t>Victoires, défaites et RR gagnés depuis le début du live, affichés en direct.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096000" y="5562000"/>
            <a:ext cx="8376119" cy="827999"/>
          </a:xfrm>
          <a:prstGeom prst="roundRect">
            <a:avLst>
              <a:gd name="adj" fmla="val 8000"/>
            </a:avLst>
          </a:prstGeom>
          <a:solidFill>
            <a:srgbClr val="262232"/>
          </a:solidFill>
          <a:ln w="12700">
            <a:solidFill>
              <a:srgbClr val="A97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0000" rIns="216000" tIns="162000" bIns="14400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>
                <a:solidFill>
                  <a:srgbClr val="A970FF"/>
                </a:solidFill>
                <a:latin typeface="Segoe UI"/>
              </a:rPr>
              <a:t>La suite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3F1F8"/>
                </a:solidFill>
                <a:latin typeface="Segoe UI"/>
              </a:rPr>
              <a:t>League of Legends (bilan victoires/défaites, timers de flash) et deux modules Rocket League de plus sont en préparation.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096000" y="5562000"/>
            <a:ext cx="46800" cy="827999"/>
          </a:xfrm>
          <a:prstGeom prst="rect">
            <a:avLst/>
          </a:prstGeom>
          <a:solidFill>
            <a:srgbClr val="A97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32119" y="6372000"/>
            <a:ext cx="144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35D75"/>
                </a:solidFill>
                <a:latin typeface="Segoe UI"/>
              </a:rPr>
              <a:t>4 / 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14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20000" y="540000"/>
            <a:ext cx="1075211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970FF"/>
                </a:solidFill>
                <a:latin typeface="Segoe UI"/>
              </a:rPr>
              <a:t>LE FONCTIONNEMENT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0000" y="846000"/>
            <a:ext cx="10752119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F3F1F8"/>
                </a:solidFill>
                <a:latin typeface="Segoe UI"/>
              </a:rPr>
              <a:t>Ce qui se passe pendant un live</a:t>
            </a:r>
          </a:p>
        </p:txBody>
      </p:sp>
      <p:sp>
        <p:nvSpPr>
          <p:cNvPr id="5" name="Rectangle 4"/>
          <p:cNvSpPr/>
          <p:nvPr/>
        </p:nvSpPr>
        <p:spPr>
          <a:xfrm>
            <a:off x="720000" y="1404000"/>
            <a:ext cx="936000" cy="32400"/>
          </a:xfrm>
          <a:prstGeom prst="rect">
            <a:avLst/>
          </a:prstGeom>
          <a:solidFill>
            <a:srgbClr val="A97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0000" y="1602000"/>
            <a:ext cx="8816738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A49EB6"/>
                </a:solidFill>
                <a:latin typeface="Segoe UI"/>
              </a:rPr>
              <a:t>StreamKit écoute ta chaîne et pilote tes outils. Tout se passe sur ton PC.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0000" y="2591999"/>
            <a:ext cx="3096000" cy="1655999"/>
          </a:xfrm>
          <a:prstGeom prst="roundRect">
            <a:avLst>
              <a:gd name="adj" fmla="val 6000"/>
            </a:avLst>
          </a:prstGeom>
          <a:solidFill>
            <a:srgbClr val="1E1B26"/>
          </a:solidFill>
          <a:ln w="12700">
            <a:solidFill>
              <a:srgbClr val="332D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6000" rIns="216000" tIns="198000" bIns="18000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>
                <a:solidFill>
                  <a:srgbClr val="F3F1F8"/>
                </a:solidFill>
                <a:latin typeface="Segoe UI"/>
              </a:rPr>
              <a:t>🟣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F3F1F8"/>
                </a:solidFill>
                <a:latin typeface="Segoe UI"/>
              </a:rPr>
              <a:t>Twitch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49EB6"/>
                </a:solidFill>
                <a:latin typeface="Segoe UI"/>
              </a:rPr>
              <a:t>Un viewer dépense ses points de chaîne, ou tape une commande dans le chat.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48060" y="2591999"/>
            <a:ext cx="3096000" cy="1655999"/>
          </a:xfrm>
          <a:prstGeom prst="roundRect">
            <a:avLst>
              <a:gd name="adj" fmla="val 6000"/>
            </a:avLst>
          </a:prstGeom>
          <a:solidFill>
            <a:srgbClr val="1E1B26"/>
          </a:solidFill>
          <a:ln w="19050">
            <a:solidFill>
              <a:srgbClr val="A97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0" rIns="216000" tIns="19800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>
                <a:solidFill>
                  <a:srgbClr val="F3F1F8"/>
                </a:solidFill>
                <a:latin typeface="Segoe UI"/>
              </a:rPr>
              <a:t>🎛️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A970FF"/>
                </a:solidFill>
                <a:latin typeface="Segoe UI"/>
              </a:rPr>
              <a:t>StreamKit, sur ton PC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49EB6"/>
                </a:solidFill>
                <a:latin typeface="Segoe UI"/>
              </a:rPr>
              <a:t>Le module concerné réagit : il vérifie, il agit, et il écrit ce qu’il a fait dans le journal.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376120" y="2591999"/>
            <a:ext cx="3096000" cy="1655999"/>
          </a:xfrm>
          <a:prstGeom prst="roundRect">
            <a:avLst>
              <a:gd name="adj" fmla="val 6000"/>
            </a:avLst>
          </a:prstGeom>
          <a:solidFill>
            <a:srgbClr val="1E1B26"/>
          </a:solidFill>
          <a:ln w="12700">
            <a:solidFill>
              <a:srgbClr val="332D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6000" rIns="216000" tIns="198000" bIns="18000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>
                <a:solidFill>
                  <a:srgbClr val="F3F1F8"/>
                </a:solidFill>
                <a:latin typeface="Segoe UI"/>
              </a:rPr>
              <a:t>🎵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F3F1F8"/>
                </a:solidFill>
                <a:latin typeface="Segoe UI"/>
              </a:rPr>
              <a:t>Spotify · OBS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49EB6"/>
                </a:solidFill>
                <a:latin typeface="Segoe UI"/>
              </a:rPr>
              <a:t>Le morceau part dans ta file d’attente, l’overlay s’anime devant tes viewers.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984029" y="3340800"/>
            <a:ext cx="396000" cy="162000"/>
          </a:xfrm>
          <a:prstGeom prst="rightArrow">
            <a:avLst/>
          </a:prstGeom>
          <a:solidFill>
            <a:srgbClr val="A97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ight Arrow 10"/>
          <p:cNvSpPr/>
          <p:nvPr/>
        </p:nvSpPr>
        <p:spPr>
          <a:xfrm>
            <a:off x="7812090" y="3340800"/>
            <a:ext cx="396000" cy="162000"/>
          </a:xfrm>
          <a:prstGeom prst="rightArrow">
            <a:avLst/>
          </a:prstGeom>
          <a:solidFill>
            <a:srgbClr val="A97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20000" y="4679999"/>
            <a:ext cx="5277059" cy="1260000"/>
          </a:xfrm>
          <a:prstGeom prst="roundRect">
            <a:avLst>
              <a:gd name="adj" fmla="val 6000"/>
            </a:avLst>
          </a:prstGeom>
          <a:solidFill>
            <a:srgbClr val="1E1B26"/>
          </a:solidFill>
          <a:ln w="12700">
            <a:solidFill>
              <a:srgbClr val="332D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6000" rIns="216000" tIns="198000" bIns="18000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46D17F"/>
                </a:solidFill>
                <a:latin typeface="Segoe UI"/>
              </a:rPr>
              <a:t>Ferme la fenêtre sans crainte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49EB6"/>
                </a:solidFill>
                <a:latin typeface="Segoe UI"/>
              </a:rPr>
              <a:t>StreamKit continue de tourner près de l’horloge. La fenêtre n’est qu’un tableau de bord, pas le programme.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5060" y="4679999"/>
            <a:ext cx="5277059" cy="1260000"/>
          </a:xfrm>
          <a:prstGeom prst="roundRect">
            <a:avLst>
              <a:gd name="adj" fmla="val 6000"/>
            </a:avLst>
          </a:prstGeom>
          <a:solidFill>
            <a:srgbClr val="1E1B26"/>
          </a:solidFill>
          <a:ln w="12700">
            <a:solidFill>
              <a:srgbClr val="332D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6000" rIns="216000" tIns="198000" bIns="18000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46D17F"/>
                </a:solidFill>
                <a:latin typeface="Segoe UI"/>
              </a:rPr>
              <a:t>Aucun serveur, aucun compte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49EB6"/>
                </a:solidFill>
                <a:latin typeface="Segoe UI"/>
              </a:rPr>
              <a:t>Rien ne transite par un service tiers : ta chaîne parle directement à ton PC.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32119" y="6372000"/>
            <a:ext cx="144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35D75"/>
                </a:solidFill>
                <a:latin typeface="Segoe UI"/>
              </a:rPr>
              <a:t>5 / 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14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20000" y="540000"/>
            <a:ext cx="1075211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970FF"/>
                </a:solidFill>
                <a:latin typeface="Segoe UI"/>
              </a:rPr>
              <a:t>LE POINT CLÉ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0000" y="846000"/>
            <a:ext cx="10752119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F3F1F8"/>
                </a:solidFill>
                <a:latin typeface="Segoe UI"/>
              </a:rPr>
              <a:t>La mise à jour se fait toute seule</a:t>
            </a:r>
          </a:p>
        </p:txBody>
      </p:sp>
      <p:sp>
        <p:nvSpPr>
          <p:cNvPr id="5" name="Rectangle 4"/>
          <p:cNvSpPr/>
          <p:nvPr/>
        </p:nvSpPr>
        <p:spPr>
          <a:xfrm>
            <a:off x="720000" y="1404000"/>
            <a:ext cx="936000" cy="32400"/>
          </a:xfrm>
          <a:prstGeom prst="rect">
            <a:avLst/>
          </a:prstGeom>
          <a:solidFill>
            <a:srgbClr val="A97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0000" y="1602000"/>
            <a:ext cx="8816738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A49EB6"/>
                </a:solidFill>
                <a:latin typeface="Segoe UI"/>
              </a:rPr>
              <a:t>C’est la raison d’être de StreamKit : corriger une fois, et que tout le monde en profite.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800" y="2296800"/>
            <a:ext cx="5630400" cy="3576569"/>
          </a:xfrm>
          <a:prstGeom prst="roundRect">
            <a:avLst>
              <a:gd name="adj" fmla="val 3000"/>
            </a:avLst>
          </a:prstGeom>
          <a:noFill/>
          <a:ln w="12700">
            <a:solidFill>
              <a:srgbClr val="332D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8" name="Picture 7" descr="c-maj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000" y="2340000"/>
            <a:ext cx="5544000" cy="3490169"/>
          </a:xfrm>
          <a:prstGeom prst="rect">
            <a:avLst/>
          </a:prstGeom>
        </p:spPr>
      </p:pic>
      <p:sp>
        <p:nvSpPr>
          <p:cNvPr id="9" name="Oval 8"/>
          <p:cNvSpPr/>
          <p:nvPr/>
        </p:nvSpPr>
        <p:spPr>
          <a:xfrm>
            <a:off x="6696000" y="2365200"/>
            <a:ext cx="280800" cy="280800"/>
          </a:xfrm>
          <a:prstGeom prst="ellipse">
            <a:avLst/>
          </a:prstGeom>
          <a:solidFill>
            <a:srgbClr val="A97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10000" y="2347200"/>
            <a:ext cx="4362119" cy="9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50" b="1">
                <a:solidFill>
                  <a:srgbClr val="F3F1F8"/>
                </a:solidFill>
                <a:latin typeface="Segoe UI"/>
              </a:rPr>
              <a:t>Un bouton apparaît en haut de ta fenêtre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49EB6"/>
                </a:solidFill>
                <a:latin typeface="Segoe UI"/>
              </a:rPr>
              <a:t>Jamais une notification Windows : une bulle système pendant que tu captures ton écran serait diffusée à tes viewers.</a:t>
            </a:r>
          </a:p>
        </p:txBody>
      </p:sp>
      <p:sp>
        <p:nvSpPr>
          <p:cNvPr id="11" name="Oval 10"/>
          <p:cNvSpPr/>
          <p:nvPr/>
        </p:nvSpPr>
        <p:spPr>
          <a:xfrm>
            <a:off x="6696000" y="3265200"/>
            <a:ext cx="280800" cy="280800"/>
          </a:xfrm>
          <a:prstGeom prst="ellipse">
            <a:avLst/>
          </a:prstGeom>
          <a:solidFill>
            <a:srgbClr val="A97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10000" y="3247200"/>
            <a:ext cx="4362119" cy="9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50" b="1">
                <a:solidFill>
                  <a:srgbClr val="F3F1F8"/>
                </a:solidFill>
                <a:latin typeface="Segoe UI"/>
              </a:rPr>
              <a:t>Un clic, et c’est fait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49EB6"/>
                </a:solidFill>
                <a:latin typeface="Segoe UI"/>
              </a:rPr>
              <a:t>StreamKit se ferme, se remplace et redémarre tout seul. Une quinzaine de secondes.</a:t>
            </a:r>
          </a:p>
        </p:txBody>
      </p:sp>
      <p:sp>
        <p:nvSpPr>
          <p:cNvPr id="13" name="Oval 12"/>
          <p:cNvSpPr/>
          <p:nvPr/>
        </p:nvSpPr>
        <p:spPr>
          <a:xfrm>
            <a:off x="6696000" y="4165200"/>
            <a:ext cx="280800" cy="280800"/>
          </a:xfrm>
          <a:prstGeom prst="ellipse">
            <a:avLst/>
          </a:prstGeom>
          <a:solidFill>
            <a:srgbClr val="A97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10000" y="4147200"/>
            <a:ext cx="4362119" cy="9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50" b="1">
                <a:solidFill>
                  <a:srgbClr val="F3F1F8"/>
                </a:solidFill>
                <a:latin typeface="Segoe UI"/>
              </a:rPr>
              <a:t>Tes réglages ne bougent pas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49EB6"/>
                </a:solidFill>
                <a:latin typeface="Segoe UI"/>
              </a:rPr>
              <a:t>Ils sont rangés ailleurs que le programme. Même une désinstallation suivie d’une réinstallation les retrouve.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96000" y="5256000"/>
            <a:ext cx="4776119" cy="936000"/>
          </a:xfrm>
          <a:prstGeom prst="roundRect">
            <a:avLst>
              <a:gd name="adj" fmla="val 8000"/>
            </a:avLst>
          </a:prstGeom>
          <a:solidFill>
            <a:srgbClr val="262232"/>
          </a:solidFill>
          <a:ln w="12700">
            <a:solidFill>
              <a:srgbClr val="E0A3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0000" rIns="216000" tIns="162000" bIns="14400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>
                <a:solidFill>
                  <a:srgbClr val="E0A33E"/>
                </a:solidFill>
                <a:latin typeface="Segoe UI"/>
              </a:rPr>
              <a:t>À garder en tête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3F1F8"/>
                </a:solidFill>
                <a:latin typeface="Segoe UI"/>
              </a:rPr>
              <a:t>Une correction n’est visible qu’après la mise à jour : la version qui tourne au moment où tu lis le message est encore l’ancienne.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96000" y="5256000"/>
            <a:ext cx="46800" cy="936000"/>
          </a:xfrm>
          <a:prstGeom prst="rect">
            <a:avLst/>
          </a:prstGeom>
          <a:solidFill>
            <a:srgbClr val="E0A3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32119" y="6372000"/>
            <a:ext cx="144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35D75"/>
                </a:solidFill>
                <a:latin typeface="Segoe UI"/>
              </a:rPr>
              <a:t>6 / 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14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20000" y="540000"/>
            <a:ext cx="1075211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970FF"/>
                </a:solidFill>
                <a:latin typeface="Segoe UI"/>
              </a:rPr>
              <a:t>SÉCURITÉ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0000" y="846000"/>
            <a:ext cx="10752119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F3F1F8"/>
                </a:solidFill>
                <a:latin typeface="Segoe UI"/>
              </a:rPr>
              <a:t>Tes codes restent chez toi</a:t>
            </a:r>
          </a:p>
        </p:txBody>
      </p:sp>
      <p:sp>
        <p:nvSpPr>
          <p:cNvPr id="5" name="Rectangle 4"/>
          <p:cNvSpPr/>
          <p:nvPr/>
        </p:nvSpPr>
        <p:spPr>
          <a:xfrm>
            <a:off x="720000" y="1404000"/>
            <a:ext cx="936000" cy="32400"/>
          </a:xfrm>
          <a:prstGeom prst="rect">
            <a:avLst/>
          </a:prstGeom>
          <a:solidFill>
            <a:srgbClr val="A97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0000" y="1602000"/>
            <a:ext cx="8816738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A49EB6"/>
                </a:solidFill>
                <a:latin typeface="Segoe UI"/>
              </a:rPr>
              <a:t>StreamKit n’a pas de serveur. Il n’y a personne au milieu.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0000" y="2268000"/>
            <a:ext cx="3452039" cy="1764000"/>
          </a:xfrm>
          <a:prstGeom prst="roundRect">
            <a:avLst>
              <a:gd name="adj" fmla="val 6000"/>
            </a:avLst>
          </a:prstGeom>
          <a:solidFill>
            <a:srgbClr val="1E1B26"/>
          </a:solidFill>
          <a:ln w="12700">
            <a:solidFill>
              <a:srgbClr val="332D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6000" rIns="216000" tIns="198000" bIns="18000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>
                <a:solidFill>
                  <a:srgbClr val="F3F1F8"/>
                </a:solidFill>
                <a:latin typeface="Segoe UI"/>
              </a:rPr>
              <a:t>🏠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F3F1F8"/>
                </a:solidFill>
                <a:latin typeface="Segoe UI"/>
              </a:rPr>
              <a:t>Tout tourne en local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49EB6"/>
                </a:solidFill>
                <a:latin typeface="Segoe UI"/>
              </a:rPr>
              <a:t>Aucune donnée n’est envoyée nulle part. StreamKit parle directement à Twitch et à Spotify, depuis ton PC.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70040" y="2268000"/>
            <a:ext cx="3452039" cy="1764000"/>
          </a:xfrm>
          <a:prstGeom prst="roundRect">
            <a:avLst>
              <a:gd name="adj" fmla="val 6000"/>
            </a:avLst>
          </a:prstGeom>
          <a:solidFill>
            <a:srgbClr val="1E1B26"/>
          </a:solidFill>
          <a:ln w="12700">
            <a:solidFill>
              <a:srgbClr val="332D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6000" rIns="216000" tIns="198000" bIns="18000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>
                <a:solidFill>
                  <a:srgbClr val="F3F1F8"/>
                </a:solidFill>
                <a:latin typeface="Segoe UI"/>
              </a:rPr>
              <a:t>🔑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F3F1F8"/>
                </a:solidFill>
                <a:latin typeface="Segoe UI"/>
              </a:rPr>
              <a:t>Tes propres applications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49EB6"/>
                </a:solidFill>
                <a:latin typeface="Segoe UI"/>
              </a:rPr>
              <a:t>Tu crées ton application Twitch et ton application Spotify. Personne d’autre — moi compris — n’a d’accès à ta chaîne.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20079" y="2268000"/>
            <a:ext cx="3452039" cy="1764000"/>
          </a:xfrm>
          <a:prstGeom prst="roundRect">
            <a:avLst>
              <a:gd name="adj" fmla="val 6000"/>
            </a:avLst>
          </a:prstGeom>
          <a:solidFill>
            <a:srgbClr val="1E1B26"/>
          </a:solidFill>
          <a:ln w="12700">
            <a:solidFill>
              <a:srgbClr val="332D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6000" rIns="216000" tIns="198000" bIns="18000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>
                <a:solidFill>
                  <a:srgbClr val="F3F1F8"/>
                </a:solidFill>
                <a:latin typeface="Segoe UI"/>
              </a:rPr>
              <a:t>📂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F3F1F8"/>
                </a:solidFill>
                <a:latin typeface="Segoe UI"/>
              </a:rPr>
              <a:t>Un dossier à ne pas partager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49EB6"/>
                </a:solidFill>
                <a:latin typeface="Segoe UI"/>
              </a:rPr>
              <a:t>Réglages et jetons vivent dans %APPDATA%\StreamKit. C’est le seul endroit sensible de toute l’installation.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0000" y="4320000"/>
            <a:ext cx="10752119" cy="936000"/>
          </a:xfrm>
          <a:prstGeom prst="roundRect">
            <a:avLst>
              <a:gd name="adj" fmla="val 8000"/>
            </a:avLst>
          </a:prstGeom>
          <a:solidFill>
            <a:srgbClr val="262232"/>
          </a:solidFill>
          <a:ln w="12700">
            <a:solidFill>
              <a:srgbClr val="E05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0000" rIns="216000" tIns="162000" bIns="14400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>
                <a:solidFill>
                  <a:srgbClr val="E0554E"/>
                </a:solidFill>
                <a:latin typeface="Segoe UI"/>
              </a:rPr>
              <a:t>⚠  Ne partage jamais ce dossier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3F1F8"/>
                </a:solidFill>
                <a:latin typeface="Segoe UI"/>
              </a:rPr>
              <a:t>Ni par message, ni dans un zip, ni dans une capture d’écran. Il contient de quoi agir sur ta chaîne à ta place. (Windows + R, puis %APPDATA%\StreamKit pour y aller.)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20000" y="4320000"/>
            <a:ext cx="46800" cy="936000"/>
          </a:xfrm>
          <a:prstGeom prst="rect">
            <a:avLst/>
          </a:prstGeom>
          <a:solidFill>
            <a:srgbClr val="E05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32119" y="6372000"/>
            <a:ext cx="144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35D75"/>
                </a:solidFill>
                <a:latin typeface="Segoe UI"/>
              </a:rPr>
              <a:t>7 / 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14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98000" cy="6858000"/>
          </a:xfrm>
          <a:prstGeom prst="rect">
            <a:avLst/>
          </a:prstGeom>
          <a:solidFill>
            <a:srgbClr val="A97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52000" y="2520000"/>
            <a:ext cx="10032119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A970FF"/>
                </a:solidFill>
                <a:latin typeface="Segoe UI"/>
              </a:rPr>
              <a:t>DEUXIÈME PARTIE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000" y="2951999"/>
            <a:ext cx="10032119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>
                <a:solidFill>
                  <a:srgbClr val="F3F1F8"/>
                </a:solidFill>
                <a:latin typeface="Segoe UI"/>
              </a:rPr>
              <a:t>Mode opératoire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000" y="4104000"/>
            <a:ext cx="75600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A49EB6"/>
                </a:solidFill>
                <a:latin typeface="Segoe UI"/>
              </a:rPr>
              <a:t>De rien du tout à un overlay qui tourne dans OBS : six étapes, une dizaine de minutes.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32119" y="6372000"/>
            <a:ext cx="144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35D75"/>
                </a:solidFill>
                <a:latin typeface="Segoe UI"/>
              </a:rPr>
              <a:t>8 / 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14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20000" y="540000"/>
            <a:ext cx="1075211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970FF"/>
                </a:solidFill>
                <a:latin typeface="Segoe UI"/>
              </a:rPr>
              <a:t>ÉTAPE 1 · DEUX MINUTES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0000" y="846000"/>
            <a:ext cx="10752119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F3F1F8"/>
                </a:solidFill>
                <a:latin typeface="Segoe UI"/>
              </a:rPr>
              <a:t>Installer StreamKit</a:t>
            </a:r>
          </a:p>
        </p:txBody>
      </p:sp>
      <p:sp>
        <p:nvSpPr>
          <p:cNvPr id="5" name="Rectangle 4"/>
          <p:cNvSpPr/>
          <p:nvPr/>
        </p:nvSpPr>
        <p:spPr>
          <a:xfrm>
            <a:off x="720000" y="1404000"/>
            <a:ext cx="936000" cy="32400"/>
          </a:xfrm>
          <a:prstGeom prst="rect">
            <a:avLst/>
          </a:prstGeom>
          <a:solidFill>
            <a:srgbClr val="A97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20000" y="1843200"/>
            <a:ext cx="280800" cy="280800"/>
          </a:xfrm>
          <a:prstGeom prst="ellipse">
            <a:avLst/>
          </a:prstGeom>
          <a:solidFill>
            <a:srgbClr val="A97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4000" y="1825200"/>
            <a:ext cx="5706000" cy="84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50" b="1">
                <a:solidFill>
                  <a:srgbClr val="F3F1F8"/>
                </a:solidFill>
                <a:latin typeface="Segoe UI"/>
              </a:rPr>
              <a:t>Télécharge le programme d’installation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49EB6"/>
                </a:solidFill>
                <a:latin typeface="Segoe UI"/>
              </a:rPr>
              <a:t>Sur la page des versions du dépôt, prends le fichier StreamKit-Setup-0.9.1.exe (le plus récent).</a:t>
            </a:r>
          </a:p>
        </p:txBody>
      </p:sp>
      <p:sp>
        <p:nvSpPr>
          <p:cNvPr id="8" name="Oval 7"/>
          <p:cNvSpPr/>
          <p:nvPr/>
        </p:nvSpPr>
        <p:spPr>
          <a:xfrm>
            <a:off x="720000" y="2689200"/>
            <a:ext cx="280800" cy="280800"/>
          </a:xfrm>
          <a:prstGeom prst="ellipse">
            <a:avLst/>
          </a:prstGeom>
          <a:solidFill>
            <a:srgbClr val="A97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4000" y="2671200"/>
            <a:ext cx="5706000" cy="84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50" b="1">
                <a:solidFill>
                  <a:srgbClr val="F3F1F8"/>
                </a:solidFill>
                <a:latin typeface="Segoe UI"/>
              </a:rPr>
              <a:t>Double-clique dessus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49EB6"/>
                </a:solidFill>
                <a:latin typeface="Segoe UI"/>
              </a:rPr>
              <a:t>Il n’y a rien à choisir : ni dossier, ni options, ni redémarrage. L’installation dure quelques secondes.</a:t>
            </a:r>
          </a:p>
        </p:txBody>
      </p:sp>
      <p:sp>
        <p:nvSpPr>
          <p:cNvPr id="10" name="Oval 9"/>
          <p:cNvSpPr/>
          <p:nvPr/>
        </p:nvSpPr>
        <p:spPr>
          <a:xfrm>
            <a:off x="720000" y="3535200"/>
            <a:ext cx="280800" cy="280800"/>
          </a:xfrm>
          <a:prstGeom prst="ellipse">
            <a:avLst/>
          </a:prstGeom>
          <a:solidFill>
            <a:srgbClr val="A97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4000" y="3517200"/>
            <a:ext cx="5706000" cy="84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50" b="1">
                <a:solidFill>
                  <a:srgbClr val="F3F1F8"/>
                </a:solidFill>
                <a:latin typeface="Segoe UI"/>
              </a:rPr>
              <a:t>Laisse passer l’avertissement Windows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49EB6"/>
                </a:solidFill>
                <a:latin typeface="Segoe UI"/>
              </a:rPr>
              <a:t>« Windows a protégé votre ordinateur » → Informations complémentaires → Exécuter quand même. Une seule fois.</a:t>
            </a:r>
          </a:p>
        </p:txBody>
      </p:sp>
      <p:sp>
        <p:nvSpPr>
          <p:cNvPr id="12" name="Oval 11"/>
          <p:cNvSpPr/>
          <p:nvPr/>
        </p:nvSpPr>
        <p:spPr>
          <a:xfrm>
            <a:off x="720000" y="4381200"/>
            <a:ext cx="280800" cy="280800"/>
          </a:xfrm>
          <a:prstGeom prst="ellipse">
            <a:avLst/>
          </a:prstGeom>
          <a:solidFill>
            <a:srgbClr val="A97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4000" y="4363200"/>
            <a:ext cx="5706000" cy="84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50" b="1">
                <a:solidFill>
                  <a:srgbClr val="F3F1F8"/>
                </a:solidFill>
                <a:latin typeface="Segoe UI"/>
              </a:rPr>
              <a:t>StreamKit s’ouvre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49EB6"/>
                </a:solidFill>
                <a:latin typeface="Segoe UI"/>
              </a:rPr>
              <a:t>Une fenêtre sombre, une colonne de modules à gauche, un indicateur rouge en haut : c’est normal, rien n’est encore connecté.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43999" y="1854000"/>
            <a:ext cx="4128119" cy="1584000"/>
          </a:xfrm>
          <a:prstGeom prst="roundRect">
            <a:avLst>
              <a:gd name="adj" fmla="val 6000"/>
            </a:avLst>
          </a:prstGeom>
          <a:solidFill>
            <a:srgbClr val="1E1B26"/>
          </a:solidFill>
          <a:ln w="12700">
            <a:solidFill>
              <a:srgbClr val="332D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0" rIns="216000" tIns="19800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>
                <a:solidFill>
                  <a:srgbClr val="A970FF"/>
                </a:solidFill>
                <a:latin typeface="Segoe UI"/>
              </a:rPr>
              <a:t>Où télécharger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0">
                <a:solidFill>
                  <a:srgbClr val="F3F1F8"/>
                </a:solidFill>
                <a:latin typeface="Consolas"/>
              </a:rPr>
              <a:t>github.com/45jmpmd6kq-ui/StreamKit/releases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49EB6"/>
                </a:solidFill>
                <a:latin typeface="Segoe UI"/>
              </a:rPr>
              <a:t>Le fichier fait environ 80 Mo : tout est dedans, il n’y a rien d’autre à installer.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43999" y="3654000"/>
            <a:ext cx="4128119" cy="1655999"/>
          </a:xfrm>
          <a:prstGeom prst="roundRect">
            <a:avLst>
              <a:gd name="adj" fmla="val 8000"/>
            </a:avLst>
          </a:prstGeom>
          <a:solidFill>
            <a:srgbClr val="262232"/>
          </a:solidFill>
          <a:ln w="12700">
            <a:solidFill>
              <a:srgbClr val="E0A3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0000" rIns="216000" tIns="162000" bIns="14400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>
                <a:solidFill>
                  <a:srgbClr val="E0A33E"/>
                </a:solidFill>
                <a:latin typeface="Segoe UI"/>
              </a:rPr>
              <a:t>Pourquoi cet avertissement ?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3F1F8"/>
                </a:solidFill>
                <a:latin typeface="Segoe UI"/>
              </a:rPr>
              <a:t>Le programme n’est pas signé numériquement : le certificat coûte plusieurs centaines d’euros par an. Windows prévient qu’il ne connaît pas l’éditeur, pas que le fichier est dangereux.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43999" y="3654000"/>
            <a:ext cx="46800" cy="1655999"/>
          </a:xfrm>
          <a:prstGeom prst="rect">
            <a:avLst/>
          </a:prstGeom>
          <a:solidFill>
            <a:srgbClr val="E0A3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76800" y="5302800"/>
            <a:ext cx="4190400" cy="578880"/>
          </a:xfrm>
          <a:prstGeom prst="roundRect">
            <a:avLst>
              <a:gd name="adj" fmla="val 3000"/>
            </a:avLst>
          </a:prstGeom>
          <a:noFill/>
          <a:ln w="12700">
            <a:solidFill>
              <a:srgbClr val="332D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8" name="Picture 17" descr="c-bandea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000" y="5346000"/>
            <a:ext cx="4104000" cy="492479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20000" y="6012000"/>
            <a:ext cx="5760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49EB6"/>
                </a:solidFill>
                <a:latin typeface="Segoe UI"/>
              </a:rPr>
              <a:t>Au premier lancement : l’indicateur est rouge, rien n’est encore connecté.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0000" y="6372000"/>
            <a:ext cx="1075211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A49EB6"/>
                </a:solidFill>
                <a:latin typeface="Segoe UI"/>
              </a:rPr>
              <a:t>Aucun droit administrateur n’est demandé : StreamKit s’installe dans ton profil utilisateur.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32119" y="6372000"/>
            <a:ext cx="144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35D75"/>
                </a:solidFill>
                <a:latin typeface="Segoe UI"/>
              </a:rPr>
              <a:t>9 / 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14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20000" y="540000"/>
            <a:ext cx="1075211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970FF"/>
                </a:solidFill>
                <a:latin typeface="Segoe UI"/>
              </a:rPr>
              <a:t>ÉTAPE 2 · TROIS MINUTES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0000" y="846000"/>
            <a:ext cx="10752119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F3F1F8"/>
                </a:solidFill>
                <a:latin typeface="Segoe UI"/>
              </a:rPr>
              <a:t>Connecter ta chaîne Twitch</a:t>
            </a:r>
          </a:p>
        </p:txBody>
      </p:sp>
      <p:sp>
        <p:nvSpPr>
          <p:cNvPr id="5" name="Rectangle 4"/>
          <p:cNvSpPr/>
          <p:nvPr/>
        </p:nvSpPr>
        <p:spPr>
          <a:xfrm>
            <a:off x="720000" y="1404000"/>
            <a:ext cx="936000" cy="32400"/>
          </a:xfrm>
          <a:prstGeom prst="rect">
            <a:avLst/>
          </a:prstGeom>
          <a:solidFill>
            <a:srgbClr val="A97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0000" y="1602000"/>
            <a:ext cx="8816738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A49EB6"/>
                </a:solidFill>
                <a:latin typeface="Segoe UI"/>
              </a:rPr>
              <a:t>À faire une seule fois. Tous les modules Twitch se serviront de cette connexion.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800" y="2170800"/>
            <a:ext cx="4772903" cy="4190400"/>
          </a:xfrm>
          <a:prstGeom prst="roundRect">
            <a:avLst>
              <a:gd name="adj" fmla="val 3000"/>
            </a:avLst>
          </a:prstGeom>
          <a:noFill/>
          <a:ln w="12700">
            <a:solidFill>
              <a:srgbClr val="332D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8" name="Picture 7" descr="c-twit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000" y="2214000"/>
            <a:ext cx="4686503" cy="4104000"/>
          </a:xfrm>
          <a:prstGeom prst="rect">
            <a:avLst/>
          </a:prstGeom>
        </p:spPr>
      </p:pic>
      <p:sp>
        <p:nvSpPr>
          <p:cNvPr id="9" name="Oval 8"/>
          <p:cNvSpPr/>
          <p:nvPr/>
        </p:nvSpPr>
        <p:spPr>
          <a:xfrm>
            <a:off x="5940000" y="2203199"/>
            <a:ext cx="280800" cy="280800"/>
          </a:xfrm>
          <a:prstGeom prst="ellipse">
            <a:avLst/>
          </a:prstGeom>
          <a:solidFill>
            <a:srgbClr val="A97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3999" y="2185200"/>
            <a:ext cx="5118119" cy="70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50" b="1">
                <a:solidFill>
                  <a:srgbClr val="F3F1F8"/>
                </a:solidFill>
                <a:latin typeface="Segoe UI"/>
              </a:rPr>
              <a:t>Clique sur l’indicateur rouge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49EB6"/>
                </a:solidFill>
                <a:latin typeface="Segoe UI"/>
              </a:rPr>
              <a:t>Tout en haut de la fenêtre. L’assistant ci-contre s’ouvre.</a:t>
            </a:r>
          </a:p>
        </p:txBody>
      </p:sp>
      <p:sp>
        <p:nvSpPr>
          <p:cNvPr id="11" name="Oval 10"/>
          <p:cNvSpPr/>
          <p:nvPr/>
        </p:nvSpPr>
        <p:spPr>
          <a:xfrm>
            <a:off x="5940000" y="2905200"/>
            <a:ext cx="280800" cy="280800"/>
          </a:xfrm>
          <a:prstGeom prst="ellipse">
            <a:avLst/>
          </a:prstGeom>
          <a:solidFill>
            <a:srgbClr val="A97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3999" y="2887200"/>
            <a:ext cx="5118119" cy="70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50" b="1">
                <a:solidFill>
                  <a:srgbClr val="F3F1F8"/>
                </a:solidFill>
                <a:latin typeface="Segoe UI"/>
              </a:rPr>
              <a:t>Ouvre la console développeur Twitch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49EB6"/>
                </a:solidFill>
                <a:latin typeface="Segoe UI"/>
              </a:rPr>
              <a:t>Le lien est dans l’assistant. C’est gratuit et ça ne demande que ton compte Twitch habituel.</a:t>
            </a:r>
          </a:p>
        </p:txBody>
      </p:sp>
      <p:sp>
        <p:nvSpPr>
          <p:cNvPr id="13" name="Oval 12"/>
          <p:cNvSpPr/>
          <p:nvPr/>
        </p:nvSpPr>
        <p:spPr>
          <a:xfrm>
            <a:off x="5940000" y="3607200"/>
            <a:ext cx="280800" cy="280800"/>
          </a:xfrm>
          <a:prstGeom prst="ellipse">
            <a:avLst/>
          </a:prstGeom>
          <a:solidFill>
            <a:srgbClr val="A97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3999" y="3589199"/>
            <a:ext cx="5118119" cy="70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50" b="1">
                <a:solidFill>
                  <a:srgbClr val="F3F1F8"/>
                </a:solidFill>
                <a:latin typeface="Segoe UI"/>
              </a:rPr>
              <a:t>Crée une application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49EB6"/>
                </a:solidFill>
                <a:latin typeface="Segoe UI"/>
              </a:rPr>
              <a:t>Nom : StreamKit. Catégorie : Chat Bot. Les deux sont libres, mais autant s’y retrouver plus tard.</a:t>
            </a:r>
          </a:p>
        </p:txBody>
      </p:sp>
      <p:sp>
        <p:nvSpPr>
          <p:cNvPr id="15" name="Oval 14"/>
          <p:cNvSpPr/>
          <p:nvPr/>
        </p:nvSpPr>
        <p:spPr>
          <a:xfrm>
            <a:off x="5940000" y="4309200"/>
            <a:ext cx="280800" cy="280800"/>
          </a:xfrm>
          <a:prstGeom prst="ellipse">
            <a:avLst/>
          </a:prstGeom>
          <a:solidFill>
            <a:srgbClr val="A97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3999" y="4291200"/>
            <a:ext cx="5118119" cy="70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50" b="1">
                <a:solidFill>
                  <a:srgbClr val="F3F1F8"/>
                </a:solidFill>
                <a:latin typeface="Segoe UI"/>
              </a:rPr>
              <a:t>Colle l’URL de redirection affichée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49EB6"/>
                </a:solidFill>
                <a:latin typeface="Segoe UI"/>
              </a:rPr>
              <a:t>http://localhost:4455/callback/twitch — au caractère près. C’est la cause numéro un des échecs d’autorisation.</a:t>
            </a:r>
          </a:p>
        </p:txBody>
      </p:sp>
      <p:sp>
        <p:nvSpPr>
          <p:cNvPr id="17" name="Oval 16"/>
          <p:cNvSpPr/>
          <p:nvPr/>
        </p:nvSpPr>
        <p:spPr>
          <a:xfrm>
            <a:off x="5940000" y="5011200"/>
            <a:ext cx="280800" cy="280800"/>
          </a:xfrm>
          <a:prstGeom prst="ellipse">
            <a:avLst/>
          </a:prstGeom>
          <a:solidFill>
            <a:srgbClr val="A97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3999" y="4993200"/>
            <a:ext cx="5118119" cy="70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50" b="1">
                <a:solidFill>
                  <a:srgbClr val="F3F1F8"/>
                </a:solidFill>
                <a:latin typeface="Segoe UI"/>
              </a:rPr>
              <a:t>Récupère l’ID et le secret client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49EB6"/>
                </a:solidFill>
                <a:latin typeface="Segoe UI"/>
              </a:rPr>
              <a:t>Colle-les avec le nom de ta chaîne, puis « Enregistrer et autoriser ».</a:t>
            </a:r>
          </a:p>
        </p:txBody>
      </p:sp>
      <p:sp>
        <p:nvSpPr>
          <p:cNvPr id="19" name="Oval 18"/>
          <p:cNvSpPr/>
          <p:nvPr/>
        </p:nvSpPr>
        <p:spPr>
          <a:xfrm>
            <a:off x="5940000" y="5713200"/>
            <a:ext cx="280800" cy="280800"/>
          </a:xfrm>
          <a:prstGeom prst="ellipse">
            <a:avLst/>
          </a:prstGeom>
          <a:solidFill>
            <a:srgbClr val="A97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3999" y="5695199"/>
            <a:ext cx="5118119" cy="70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50" b="1">
                <a:solidFill>
                  <a:srgbClr val="F3F1F8"/>
                </a:solidFill>
                <a:latin typeface="Segoe UI"/>
              </a:rPr>
              <a:t>Autorise dans le navigateur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49EB6"/>
                </a:solidFill>
                <a:latin typeface="Segoe UI"/>
              </a:rPr>
              <a:t>Une page Twitch s’ouvre. Tu cliques sur Autoriser, tu reviens : l’indicateur est passé au vert.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32119" y="6372000"/>
            <a:ext cx="144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35D75"/>
                </a:solidFill>
                <a:latin typeface="Segoe UI"/>
              </a:rPr>
              <a:t>10 / 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14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20000" y="540000"/>
            <a:ext cx="1075211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970FF"/>
                </a:solidFill>
                <a:latin typeface="Segoe UI"/>
              </a:rPr>
              <a:t>ÉTAPE 3 · SEULEMENT POUR LE BOT MUSIQUE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0000" y="846000"/>
            <a:ext cx="10752119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F3F1F8"/>
                </a:solidFill>
                <a:latin typeface="Segoe UI"/>
              </a:rPr>
              <a:t>Connecter Spotify</a:t>
            </a:r>
          </a:p>
        </p:txBody>
      </p:sp>
      <p:sp>
        <p:nvSpPr>
          <p:cNvPr id="5" name="Rectangle 4"/>
          <p:cNvSpPr/>
          <p:nvPr/>
        </p:nvSpPr>
        <p:spPr>
          <a:xfrm>
            <a:off x="720000" y="1404000"/>
            <a:ext cx="936000" cy="32400"/>
          </a:xfrm>
          <a:prstGeom prst="rect">
            <a:avLst/>
          </a:prstGeom>
          <a:solidFill>
            <a:srgbClr val="A97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0000" y="1602000"/>
            <a:ext cx="8816738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A49EB6"/>
                </a:solidFill>
                <a:latin typeface="Segoe UI"/>
              </a:rPr>
              <a:t>Les services externes se configurent au même endroit : l’écran Connecteurs. Les modules y puisent tout seuls.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800" y="2260800"/>
            <a:ext cx="6350399" cy="4003568"/>
          </a:xfrm>
          <a:prstGeom prst="roundRect">
            <a:avLst>
              <a:gd name="adj" fmla="val 3000"/>
            </a:avLst>
          </a:prstGeom>
          <a:noFill/>
          <a:ln w="12700">
            <a:solidFill>
              <a:srgbClr val="332D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8" name="Picture 7" descr="c-spotif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000" y="2304000"/>
            <a:ext cx="6263999" cy="3917168"/>
          </a:xfrm>
          <a:prstGeom prst="rect">
            <a:avLst/>
          </a:prstGeom>
        </p:spPr>
      </p:pic>
      <p:sp>
        <p:nvSpPr>
          <p:cNvPr id="9" name="Oval 8"/>
          <p:cNvSpPr/>
          <p:nvPr/>
        </p:nvSpPr>
        <p:spPr>
          <a:xfrm>
            <a:off x="7416000" y="2329200"/>
            <a:ext cx="280800" cy="280800"/>
          </a:xfrm>
          <a:prstGeom prst="ellipse">
            <a:avLst/>
          </a:prstGeom>
          <a:solidFill>
            <a:srgbClr val="A97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30000" y="2311200"/>
            <a:ext cx="3642119" cy="79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50" b="1">
                <a:solidFill>
                  <a:srgbClr val="F3F1F8"/>
                </a:solidFill>
                <a:latin typeface="Segoe UI"/>
              </a:rPr>
              <a:t>Ouvre Connecteurs, puis la carte Spotify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49EB6"/>
                </a:solidFill>
                <a:latin typeface="Segoe UI"/>
              </a:rPr>
              <a:t>Dans la colonne de gauche, juste sous « Vue d’ensemble ».</a:t>
            </a:r>
          </a:p>
        </p:txBody>
      </p:sp>
      <p:sp>
        <p:nvSpPr>
          <p:cNvPr id="11" name="Oval 10"/>
          <p:cNvSpPr/>
          <p:nvPr/>
        </p:nvSpPr>
        <p:spPr>
          <a:xfrm>
            <a:off x="7416000" y="3121200"/>
            <a:ext cx="280800" cy="280800"/>
          </a:xfrm>
          <a:prstGeom prst="ellipse">
            <a:avLst/>
          </a:prstGeom>
          <a:solidFill>
            <a:srgbClr val="A97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30000" y="3103199"/>
            <a:ext cx="3642119" cy="79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50" b="1">
                <a:solidFill>
                  <a:srgbClr val="F3F1F8"/>
                </a:solidFill>
                <a:latin typeface="Segoe UI"/>
              </a:rPr>
              <a:t>Crée ton application Spotify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49EB6"/>
                </a:solidFill>
                <a:latin typeface="Segoe UI"/>
              </a:rPr>
              <a:t>Sur le tableau de bord développeur : Create app, nom et description libres, coche « Web API ».</a:t>
            </a:r>
          </a:p>
        </p:txBody>
      </p:sp>
      <p:sp>
        <p:nvSpPr>
          <p:cNvPr id="13" name="Oval 12"/>
          <p:cNvSpPr/>
          <p:nvPr/>
        </p:nvSpPr>
        <p:spPr>
          <a:xfrm>
            <a:off x="7416000" y="3913200"/>
            <a:ext cx="280800" cy="280800"/>
          </a:xfrm>
          <a:prstGeom prst="ellipse">
            <a:avLst/>
          </a:prstGeom>
          <a:solidFill>
            <a:srgbClr val="A97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30000" y="3895200"/>
            <a:ext cx="3642119" cy="79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50" b="1">
                <a:solidFill>
                  <a:srgbClr val="F3F1F8"/>
                </a:solidFill>
                <a:latin typeface="Segoe UI"/>
              </a:rPr>
              <a:t>Colle l’adresse de retour affichée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49EB6"/>
                </a:solidFill>
                <a:latin typeface="Segoe UI"/>
              </a:rPr>
              <a:t>Elle est donnée dans la carte, avec un bouton Copier. Là encore : au caractère près.</a:t>
            </a:r>
          </a:p>
        </p:txBody>
      </p:sp>
      <p:sp>
        <p:nvSpPr>
          <p:cNvPr id="15" name="Oval 14"/>
          <p:cNvSpPr/>
          <p:nvPr/>
        </p:nvSpPr>
        <p:spPr>
          <a:xfrm>
            <a:off x="7416000" y="4705200"/>
            <a:ext cx="280800" cy="280800"/>
          </a:xfrm>
          <a:prstGeom prst="ellipse">
            <a:avLst/>
          </a:prstGeom>
          <a:solidFill>
            <a:srgbClr val="A97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30000" y="4687200"/>
            <a:ext cx="3642119" cy="79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50" b="1">
                <a:solidFill>
                  <a:srgbClr val="F3F1F8"/>
                </a:solidFill>
                <a:latin typeface="Segoe UI"/>
              </a:rPr>
              <a:t>ID + secret, puis Connecter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49EB6"/>
                </a:solidFill>
                <a:latin typeface="Segoe UI"/>
              </a:rPr>
              <a:t>Spotify demande ton accord, et le nom de ton compte s’affiche à côté du connecteur.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16000" y="5436000"/>
            <a:ext cx="4056119" cy="972000"/>
          </a:xfrm>
          <a:prstGeom prst="roundRect">
            <a:avLst>
              <a:gd name="adj" fmla="val 8000"/>
            </a:avLst>
          </a:prstGeom>
          <a:solidFill>
            <a:srgbClr val="262232"/>
          </a:solidFill>
          <a:ln w="12700">
            <a:solidFill>
              <a:srgbClr val="A97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0000" rIns="216000" tIns="162000" bIns="14400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>
                <a:solidFill>
                  <a:srgbClr val="A970FF"/>
                </a:solidFill>
                <a:latin typeface="Segoe UI"/>
              </a:rPr>
              <a:t>Pourquoi ta propre application ?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3F1F8"/>
                </a:solidFill>
                <a:latin typeface="Segoe UI"/>
              </a:rPr>
              <a:t>Une application Spotify partagée est plafonnée à 25 utilisateurs à inscrire un par un. Avec une application par streamer, la limite n’existe pas.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416000" y="5436000"/>
            <a:ext cx="46800" cy="972000"/>
          </a:xfrm>
          <a:prstGeom prst="rect">
            <a:avLst/>
          </a:prstGeom>
          <a:solidFill>
            <a:srgbClr val="A97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32119" y="6372000"/>
            <a:ext cx="144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35D75"/>
                </a:solidFill>
                <a:latin typeface="Segoe UI"/>
              </a:rPr>
              <a:t>11 / 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14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20000" y="540000"/>
            <a:ext cx="1075211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970FF"/>
                </a:solidFill>
                <a:latin typeface="Segoe UI"/>
              </a:rPr>
              <a:t>ÉTAPE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0000" y="846000"/>
            <a:ext cx="10752119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F3F1F8"/>
                </a:solidFill>
                <a:latin typeface="Segoe UI"/>
              </a:rPr>
              <a:t>Activer un module</a:t>
            </a:r>
          </a:p>
        </p:txBody>
      </p:sp>
      <p:sp>
        <p:nvSpPr>
          <p:cNvPr id="5" name="Rectangle 4"/>
          <p:cNvSpPr/>
          <p:nvPr/>
        </p:nvSpPr>
        <p:spPr>
          <a:xfrm>
            <a:off x="720000" y="1404000"/>
            <a:ext cx="936000" cy="32400"/>
          </a:xfrm>
          <a:prstGeom prst="rect">
            <a:avLst/>
          </a:prstGeom>
          <a:solidFill>
            <a:srgbClr val="A97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0000" y="1602000"/>
            <a:ext cx="8816738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A49EB6"/>
                </a:solidFill>
                <a:latin typeface="Segoe UI"/>
              </a:rPr>
              <a:t>Chaque module a son écran : une description, ses réglages, ses overlays, son interrupteur.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800" y="2260800"/>
            <a:ext cx="6782400" cy="3695442"/>
          </a:xfrm>
          <a:prstGeom prst="roundRect">
            <a:avLst>
              <a:gd name="adj" fmla="val 3000"/>
            </a:avLst>
          </a:prstGeom>
          <a:noFill/>
          <a:ln w="12700">
            <a:solidFill>
              <a:srgbClr val="332D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8" name="Picture 7" descr="c-modu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000" y="2304000"/>
            <a:ext cx="6696000" cy="3609042"/>
          </a:xfrm>
          <a:prstGeom prst="rect">
            <a:avLst/>
          </a:prstGeom>
        </p:spPr>
      </p:pic>
      <p:sp>
        <p:nvSpPr>
          <p:cNvPr id="9" name="Oval 8"/>
          <p:cNvSpPr/>
          <p:nvPr/>
        </p:nvSpPr>
        <p:spPr>
          <a:xfrm>
            <a:off x="6930000" y="2376000"/>
            <a:ext cx="280800" cy="280800"/>
          </a:xfrm>
          <a:prstGeom prst="ellipse">
            <a:avLst/>
          </a:prstGeom>
          <a:solidFill>
            <a:srgbClr val="A97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0" name="Oval 9"/>
          <p:cNvSpPr/>
          <p:nvPr/>
        </p:nvSpPr>
        <p:spPr>
          <a:xfrm>
            <a:off x="7848000" y="2329200"/>
            <a:ext cx="280800" cy="280800"/>
          </a:xfrm>
          <a:prstGeom prst="ellipse">
            <a:avLst/>
          </a:prstGeom>
          <a:solidFill>
            <a:srgbClr val="A97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62000" y="2311200"/>
            <a:ext cx="3210119" cy="917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50" b="1">
                <a:solidFill>
                  <a:srgbClr val="F3F1F8"/>
                </a:solidFill>
                <a:latin typeface="Segoe UI"/>
              </a:rPr>
              <a:t>Choisis le module à gauche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49EB6"/>
                </a:solidFill>
                <a:latin typeface="Segoe UI"/>
              </a:rPr>
              <a:t>Les catégories se replient : tu ne vois que les jeux qui t’intéressent.</a:t>
            </a:r>
          </a:p>
        </p:txBody>
      </p:sp>
      <p:sp>
        <p:nvSpPr>
          <p:cNvPr id="12" name="Oval 11"/>
          <p:cNvSpPr/>
          <p:nvPr/>
        </p:nvSpPr>
        <p:spPr>
          <a:xfrm>
            <a:off x="7848000" y="3247200"/>
            <a:ext cx="280800" cy="280800"/>
          </a:xfrm>
          <a:prstGeom prst="ellipse">
            <a:avLst/>
          </a:prstGeom>
          <a:solidFill>
            <a:srgbClr val="A97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62000" y="3229200"/>
            <a:ext cx="3210119" cy="917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50" b="1">
                <a:solidFill>
                  <a:srgbClr val="F3F1F8"/>
                </a:solidFill>
                <a:latin typeface="Segoe UI"/>
              </a:rPr>
              <a:t>Règle ce que tu veux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49EB6"/>
                </a:solidFill>
                <a:latin typeface="Segoe UI"/>
              </a:rPr>
              <a:t>Chaque champ est expliqué sous son titre. Un champ obligatoire vide empêche le module de démarrer, et il te le dit.</a:t>
            </a:r>
          </a:p>
        </p:txBody>
      </p:sp>
      <p:sp>
        <p:nvSpPr>
          <p:cNvPr id="14" name="Oval 13"/>
          <p:cNvSpPr/>
          <p:nvPr/>
        </p:nvSpPr>
        <p:spPr>
          <a:xfrm>
            <a:off x="7848000" y="4165200"/>
            <a:ext cx="280800" cy="280800"/>
          </a:xfrm>
          <a:prstGeom prst="ellipse">
            <a:avLst/>
          </a:prstGeom>
          <a:solidFill>
            <a:srgbClr val="A97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62000" y="4147200"/>
            <a:ext cx="3210119" cy="917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50" b="1">
                <a:solidFill>
                  <a:srgbClr val="F3F1F8"/>
                </a:solidFill>
                <a:latin typeface="Segoe UI"/>
              </a:rPr>
              <a:t>Bascule l’interrupteur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49EB6"/>
                </a:solidFill>
                <a:latin typeface="Segoe UI"/>
              </a:rPr>
              <a:t>En haut à droite de l’écran du module. La pastille passe au vert quand il tourne.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48000" y="5220000"/>
            <a:ext cx="3624119" cy="900000"/>
          </a:xfrm>
          <a:prstGeom prst="roundRect">
            <a:avLst>
              <a:gd name="adj" fmla="val 8000"/>
            </a:avLst>
          </a:prstGeom>
          <a:solidFill>
            <a:srgbClr val="262232"/>
          </a:solidFill>
          <a:ln w="12700">
            <a:solidFill>
              <a:srgbClr val="46D1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0000" rIns="216000" tIns="162000" bIns="14400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>
                <a:solidFill>
                  <a:srgbClr val="46D17F"/>
                </a:solidFill>
                <a:latin typeface="Segoe UI"/>
              </a:rPr>
              <a:t>Pas de redémarrage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3F1F8"/>
                </a:solidFill>
                <a:latin typeface="Segoe UI"/>
              </a:rPr>
              <a:t>Les réglages s’appliquent immédiatement, même en plein live.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48000" y="5220000"/>
            <a:ext cx="46800" cy="900000"/>
          </a:xfrm>
          <a:prstGeom prst="rect">
            <a:avLst/>
          </a:prstGeom>
          <a:solidFill>
            <a:srgbClr val="46D1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32119" y="6372000"/>
            <a:ext cx="144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35D75"/>
                </a:solidFill>
                <a:latin typeface="Segoe UI"/>
              </a:rPr>
              <a:t>12 / 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14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20000" y="540000"/>
            <a:ext cx="1075211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970FF"/>
                </a:solidFill>
                <a:latin typeface="Segoe UI"/>
              </a:rPr>
              <a:t>ÉTAPE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0000" y="846000"/>
            <a:ext cx="10752119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F3F1F8"/>
                </a:solidFill>
                <a:latin typeface="Segoe UI"/>
              </a:rPr>
              <a:t>Poser l’overlay dans OBS</a:t>
            </a:r>
          </a:p>
        </p:txBody>
      </p:sp>
      <p:sp>
        <p:nvSpPr>
          <p:cNvPr id="5" name="Rectangle 4"/>
          <p:cNvSpPr/>
          <p:nvPr/>
        </p:nvSpPr>
        <p:spPr>
          <a:xfrm>
            <a:off x="720000" y="1404000"/>
            <a:ext cx="936000" cy="32400"/>
          </a:xfrm>
          <a:prstGeom prst="rect">
            <a:avLst/>
          </a:prstGeom>
          <a:solidFill>
            <a:srgbClr val="A97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0000" y="1602000"/>
            <a:ext cx="8816738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A49EB6"/>
                </a:solidFill>
                <a:latin typeface="Segoe UI"/>
              </a:rPr>
              <a:t>Chaque module qui affiche quelque chose donne une adresse à coller dans OBS.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800" y="2260800"/>
            <a:ext cx="7286399" cy="1853716"/>
          </a:xfrm>
          <a:prstGeom prst="roundRect">
            <a:avLst>
              <a:gd name="adj" fmla="val 3000"/>
            </a:avLst>
          </a:prstGeom>
          <a:noFill/>
          <a:ln w="12700">
            <a:solidFill>
              <a:srgbClr val="332D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8" name="Picture 7" descr="c-overl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000" y="2304000"/>
            <a:ext cx="7200000" cy="1767316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280000" y="2304000"/>
            <a:ext cx="3192119" cy="1767316"/>
          </a:xfrm>
          <a:prstGeom prst="roundRect">
            <a:avLst>
              <a:gd name="adj" fmla="val 8000"/>
            </a:avLst>
          </a:prstGeom>
          <a:solidFill>
            <a:srgbClr val="262232"/>
          </a:solidFill>
          <a:ln w="12700">
            <a:solidFill>
              <a:srgbClr val="E0A3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0000" rIns="216000" tIns="162000" bIns="14400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>
                <a:solidFill>
                  <a:srgbClr val="E0A33E"/>
                </a:solidFill>
                <a:latin typeface="Segoe UI"/>
              </a:rPr>
              <a:t>Un overlay reste vide ?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3F1F8"/>
                </a:solidFill>
                <a:latin typeface="Segoe UI"/>
              </a:rPr>
              <a:t>Vérifie que StreamKit tourne (l’icône près de l’horloge), puis clic droit sur la source dans OBS ▸ Actualiser.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80000" y="2304000"/>
            <a:ext cx="46800" cy="1767316"/>
          </a:xfrm>
          <a:prstGeom prst="rect">
            <a:avLst/>
          </a:prstGeom>
          <a:solidFill>
            <a:srgbClr val="E0A3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20000" y="4359316"/>
            <a:ext cx="2539530" cy="1655999"/>
          </a:xfrm>
          <a:prstGeom prst="roundRect">
            <a:avLst>
              <a:gd name="adj" fmla="val 6000"/>
            </a:avLst>
          </a:prstGeom>
          <a:solidFill>
            <a:srgbClr val="1E1B26"/>
          </a:solidFill>
          <a:ln w="12700">
            <a:solidFill>
              <a:srgbClr val="332D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6000" rIns="216000" tIns="198000" bIns="18000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A970FF"/>
                </a:solidFill>
                <a:latin typeface="Segoe UI"/>
              </a:rPr>
              <a:t>1 · Copie l’adresse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49EB6"/>
                </a:solidFill>
                <a:latin typeface="Segoe UI"/>
              </a:rPr>
              <a:t>Bouton Copier, sur l’écran du module.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57530" y="4359316"/>
            <a:ext cx="2539530" cy="1655999"/>
          </a:xfrm>
          <a:prstGeom prst="roundRect">
            <a:avLst>
              <a:gd name="adj" fmla="val 6000"/>
            </a:avLst>
          </a:prstGeom>
          <a:solidFill>
            <a:srgbClr val="1E1B26"/>
          </a:solidFill>
          <a:ln w="12700">
            <a:solidFill>
              <a:srgbClr val="332D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6000" rIns="216000" tIns="198000" bIns="18000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A970FF"/>
                </a:solidFill>
                <a:latin typeface="Segoe UI"/>
              </a:rPr>
              <a:t>2 · Ajoute une source dans OBS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49EB6"/>
                </a:solidFill>
                <a:latin typeface="Segoe UI"/>
              </a:rPr>
              <a:t>Sources ▸ + ▸ Navigateur. Donne-lui le nom que tu veux.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5060" y="4359316"/>
            <a:ext cx="2539530" cy="1655999"/>
          </a:xfrm>
          <a:prstGeom prst="roundRect">
            <a:avLst>
              <a:gd name="adj" fmla="val 6000"/>
            </a:avLst>
          </a:prstGeom>
          <a:solidFill>
            <a:srgbClr val="1E1B26"/>
          </a:solidFill>
          <a:ln w="12700">
            <a:solidFill>
              <a:srgbClr val="332D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6000" rIns="216000" tIns="198000" bIns="18000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A970FF"/>
                </a:solidFill>
                <a:latin typeface="Segoe UI"/>
              </a:rPr>
              <a:t>3 · Colle l’adresse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49EB6"/>
                </a:solidFill>
                <a:latin typeface="Segoe UI"/>
              </a:rPr>
              <a:t>Dans le champ URL. Largeur 1920, Hauteur 1080 : l’overlay se place tout seul dans le coin prévu.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32590" y="4359316"/>
            <a:ext cx="2539530" cy="1655999"/>
          </a:xfrm>
          <a:prstGeom prst="roundRect">
            <a:avLst>
              <a:gd name="adj" fmla="val 6000"/>
            </a:avLst>
          </a:prstGeom>
          <a:solidFill>
            <a:srgbClr val="1E1B26"/>
          </a:solidFill>
          <a:ln w="12700">
            <a:solidFill>
              <a:srgbClr val="332D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6000" rIns="216000" tIns="198000" bIns="18000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A970FF"/>
                </a:solidFill>
                <a:latin typeface="Segoe UI"/>
              </a:rPr>
              <a:t>4 · Place la source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49EB6"/>
                </a:solidFill>
                <a:latin typeface="Segoe UI"/>
              </a:rPr>
              <a:t>Ajoute ?demo=1 à la fin de l’adresse pour voir un exemple, positionne, puis retire-le.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32119" y="6372000"/>
            <a:ext cx="144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35D75"/>
                </a:solidFill>
                <a:latin typeface="Segoe UI"/>
              </a:rPr>
              <a:t>13 / 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14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20000" y="540000"/>
            <a:ext cx="1075211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970FF"/>
                </a:solidFill>
                <a:latin typeface="Segoe UI"/>
              </a:rPr>
              <a:t>ÉTAPE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0000" y="846000"/>
            <a:ext cx="10752119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F3F1F8"/>
                </a:solidFill>
                <a:latin typeface="Segoe UI"/>
              </a:rPr>
              <a:t>Pendant le live</a:t>
            </a:r>
          </a:p>
        </p:txBody>
      </p:sp>
      <p:sp>
        <p:nvSpPr>
          <p:cNvPr id="5" name="Rectangle 4"/>
          <p:cNvSpPr/>
          <p:nvPr/>
        </p:nvSpPr>
        <p:spPr>
          <a:xfrm>
            <a:off x="720000" y="1404000"/>
            <a:ext cx="936000" cy="32400"/>
          </a:xfrm>
          <a:prstGeom prst="rect">
            <a:avLst/>
          </a:prstGeom>
          <a:solidFill>
            <a:srgbClr val="A97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0000" y="1602000"/>
            <a:ext cx="8816738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A49EB6"/>
                </a:solidFill>
                <a:latin typeface="Segoe UI"/>
              </a:rPr>
              <a:t>StreamKit vit près de l’horloge, en bas à droite de l’écran.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0000" y="2304000"/>
            <a:ext cx="3452039" cy="1764000"/>
          </a:xfrm>
          <a:prstGeom prst="roundRect">
            <a:avLst>
              <a:gd name="adj" fmla="val 6000"/>
            </a:avLst>
          </a:prstGeom>
          <a:solidFill>
            <a:srgbClr val="1E1B26"/>
          </a:solidFill>
          <a:ln w="12700">
            <a:solidFill>
              <a:srgbClr val="332D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6000" rIns="216000" tIns="198000" bIns="18000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>
                <a:solidFill>
                  <a:srgbClr val="F3F1F8"/>
                </a:solidFill>
                <a:latin typeface="Segoe UI"/>
              </a:rPr>
              <a:t>🖱️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F3F1F8"/>
                </a:solidFill>
                <a:latin typeface="Segoe UI"/>
              </a:rPr>
              <a:t>Fermer la fenêtre ne coupe rien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49EB6"/>
                </a:solidFill>
                <a:latin typeface="Segoe UI"/>
              </a:rPr>
              <a:t>La croix range StreamKit près de l’horloge. Les modules continuent de tourner : c’est fait pour.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70040" y="2304000"/>
            <a:ext cx="3452039" cy="1764000"/>
          </a:xfrm>
          <a:prstGeom prst="roundRect">
            <a:avLst>
              <a:gd name="adj" fmla="val 6000"/>
            </a:avLst>
          </a:prstGeom>
          <a:solidFill>
            <a:srgbClr val="1E1B26"/>
          </a:solidFill>
          <a:ln w="12700">
            <a:solidFill>
              <a:srgbClr val="332D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6000" rIns="216000" tIns="198000" bIns="18000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>
                <a:solidFill>
                  <a:srgbClr val="F3F1F8"/>
                </a:solidFill>
                <a:latin typeface="Segoe UI"/>
              </a:rPr>
              <a:t>↩️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F3F1F8"/>
                </a:solidFill>
                <a:latin typeface="Segoe UI"/>
              </a:rPr>
              <a:t>Clic droit sur l’icône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49EB6"/>
                </a:solidFill>
                <a:latin typeface="Segoe UI"/>
              </a:rPr>
              <a:t>Ouvrir le tableau de bord, ou tout arrêter. Double-clic : la fenêtre revient.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20079" y="2304000"/>
            <a:ext cx="3452039" cy="1764000"/>
          </a:xfrm>
          <a:prstGeom prst="roundRect">
            <a:avLst>
              <a:gd name="adj" fmla="val 6000"/>
            </a:avLst>
          </a:prstGeom>
          <a:solidFill>
            <a:srgbClr val="1E1B26"/>
          </a:solidFill>
          <a:ln w="12700">
            <a:solidFill>
              <a:srgbClr val="332D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6000" rIns="216000" tIns="198000" bIns="18000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>
                <a:solidFill>
                  <a:srgbClr val="F3F1F8"/>
                </a:solidFill>
                <a:latin typeface="Segoe UI"/>
              </a:rPr>
              <a:t>⚡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F3F1F8"/>
                </a:solidFill>
                <a:latin typeface="Segoe UI"/>
              </a:rPr>
              <a:t>Démarrer avec Windows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49EB6"/>
                </a:solidFill>
                <a:latin typeface="Segoe UI"/>
              </a:rPr>
              <a:t>Roue crantée en haut à droite → Démarrer avec Windows. Il se lance directement près de l’horloge, sans fenêtre.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0000" y="4356000"/>
            <a:ext cx="10752119" cy="972000"/>
          </a:xfrm>
          <a:prstGeom prst="roundRect">
            <a:avLst>
              <a:gd name="adj" fmla="val 8000"/>
            </a:avLst>
          </a:prstGeom>
          <a:solidFill>
            <a:srgbClr val="262232"/>
          </a:solidFill>
          <a:ln w="12700">
            <a:solidFill>
              <a:srgbClr val="A97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0000" rIns="216000" tIns="162000" bIns="14400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>
                <a:solidFill>
                  <a:srgbClr val="A970FF"/>
                </a:solidFill>
                <a:latin typeface="Segoe UI"/>
              </a:rPr>
              <a:t>Les statistiques suivent tes lives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3F1F8"/>
                </a:solidFill>
                <a:latin typeface="Segoe UI"/>
              </a:rPr>
              <a:t>L’écran « Vue d’ensemble » compte les commandes utilisées. Les compteurs repartent de zéro au début de chaque live, pas à chaque lancement de StreamKit.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20000" y="4356000"/>
            <a:ext cx="46800" cy="972000"/>
          </a:xfrm>
          <a:prstGeom prst="rect">
            <a:avLst/>
          </a:prstGeom>
          <a:solidFill>
            <a:srgbClr val="A97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32119" y="6372000"/>
            <a:ext cx="144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35D75"/>
                </a:solidFill>
                <a:latin typeface="Segoe UI"/>
              </a:rPr>
              <a:t>14 / 16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14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20000" y="540000"/>
            <a:ext cx="1075211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970FF"/>
                </a:solidFill>
                <a:latin typeface="Segoe UI"/>
              </a:rPr>
              <a:t>DÉPANNAGE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0000" y="846000"/>
            <a:ext cx="10752119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F3F1F8"/>
                </a:solidFill>
                <a:latin typeface="Segoe UI"/>
              </a:rPr>
              <a:t>Si ça coince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720000" y="1404000"/>
            <a:ext cx="936000" cy="32400"/>
          </a:xfrm>
          <a:prstGeom prst="rect">
            <a:avLst/>
          </a:prstGeom>
          <a:solidFill>
            <a:srgbClr val="A97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0000" y="1602000"/>
            <a:ext cx="8816738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A49EB6"/>
                </a:solidFill>
                <a:latin typeface="Segoe UI"/>
              </a:rPr>
              <a:t>Le journal, en bas de la fenêtre, écrit tout ce que font les modules — même plusieurs jours après.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800" y="2224800"/>
            <a:ext cx="10838519" cy="1400829"/>
          </a:xfrm>
          <a:prstGeom prst="roundRect">
            <a:avLst>
              <a:gd name="adj" fmla="val 3000"/>
            </a:avLst>
          </a:prstGeom>
          <a:noFill/>
          <a:ln w="12700">
            <a:solidFill>
              <a:srgbClr val="332D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8" name="Picture 7" descr="c-jour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000" y="2268000"/>
            <a:ext cx="10752119" cy="1314429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20000" y="3888000"/>
            <a:ext cx="3452039" cy="1332000"/>
          </a:xfrm>
          <a:prstGeom prst="roundRect">
            <a:avLst>
              <a:gd name="adj" fmla="val 6000"/>
            </a:avLst>
          </a:prstGeom>
          <a:solidFill>
            <a:srgbClr val="1E1B26"/>
          </a:solidFill>
          <a:ln w="12700">
            <a:solidFill>
              <a:srgbClr val="332D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6000" rIns="216000" tIns="198000" bIns="18000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A970FF"/>
                </a:solidFill>
                <a:latin typeface="Segoe UI"/>
              </a:rPr>
              <a:t>Déplie-le d’un clic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49EB6"/>
                </a:solidFill>
                <a:latin typeface="Segoe UI"/>
              </a:rPr>
              <a:t>Il est replié par défaut pour ne pas manger l’écran. Un clic sur « Journal » l’ouvre.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0040" y="3888000"/>
            <a:ext cx="3452039" cy="1332000"/>
          </a:xfrm>
          <a:prstGeom prst="roundRect">
            <a:avLst>
              <a:gd name="adj" fmla="val 6000"/>
            </a:avLst>
          </a:prstGeom>
          <a:solidFill>
            <a:srgbClr val="1E1B26"/>
          </a:solidFill>
          <a:ln w="12700">
            <a:solidFill>
              <a:srgbClr val="332D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6000" rIns="216000" tIns="198000" bIns="18000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A970FF"/>
                </a:solidFill>
                <a:latin typeface="Segoe UI"/>
              </a:rPr>
              <a:t>Filtre ce que tu cherches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49EB6"/>
                </a:solidFill>
                <a:latin typeface="Segoe UI"/>
              </a:rPr>
              <a:t>Par module, par gravité (erreurs seulement), ou par mot-clé. Le compteur rouge signale les erreurs.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20079" y="3888000"/>
            <a:ext cx="3452039" cy="1332000"/>
          </a:xfrm>
          <a:prstGeom prst="roundRect">
            <a:avLst>
              <a:gd name="adj" fmla="val 6000"/>
            </a:avLst>
          </a:prstGeom>
          <a:solidFill>
            <a:srgbClr val="1E1B26"/>
          </a:solidFill>
          <a:ln w="12700">
            <a:solidFill>
              <a:srgbClr val="332D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6000" rIns="216000" tIns="198000" bIns="18000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A970FF"/>
                </a:solidFill>
                <a:latin typeface="Segoe UI"/>
              </a:rPr>
              <a:t>Envoie-moi le fichier du jour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49EB6"/>
                </a:solidFill>
                <a:latin typeface="Segoe UI"/>
              </a:rPr>
              <a:t>Le bouton ⤓ télécharge le journal complet. Avec ça, je vois exactement ce qui s’est passé.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32119" y="6372000"/>
            <a:ext cx="144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35D75"/>
                </a:solidFill>
                <a:latin typeface="Segoe UI"/>
              </a:rPr>
              <a:t>15 / 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14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20000" y="540000"/>
            <a:ext cx="1075211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970FF"/>
                </a:solidFill>
                <a:latin typeface="Segoe UI"/>
              </a:rPr>
              <a:t>AIDE-MÉMOIRE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0000" y="846000"/>
            <a:ext cx="10752119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F3F1F8"/>
                </a:solidFill>
                <a:latin typeface="Segoe UI"/>
              </a:rPr>
              <a:t>L’essentiel sur une page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720000" y="1404000"/>
            <a:ext cx="936000" cy="32400"/>
          </a:xfrm>
          <a:prstGeom prst="rect">
            <a:avLst/>
          </a:prstGeom>
          <a:solidFill>
            <a:srgbClr val="A97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20000" y="1854000"/>
            <a:ext cx="10752119" cy="882000"/>
          </a:xfrm>
          <a:prstGeom prst="roundRect">
            <a:avLst>
              <a:gd name="adj" fmla="val 12000"/>
            </a:avLst>
          </a:prstGeom>
          <a:solidFill>
            <a:srgbClr val="1E1B26"/>
          </a:solidFill>
          <a:ln w="12700">
            <a:solidFill>
              <a:srgbClr val="332D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4000" rIns="32400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A49EB6"/>
                </a:solidFill>
                <a:latin typeface="Segoe UI"/>
              </a:rPr>
              <a:t>Télécharger / mettre à jour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>
                <a:solidFill>
                  <a:srgbClr val="F3F1F8"/>
                </a:solidFill>
                <a:latin typeface="Consolas"/>
              </a:rPr>
              <a:t>github.com/45jmpmd6kq-ui/StreamKit/releases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56059" y="2124000"/>
            <a:ext cx="4656059" cy="52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49EB6"/>
                </a:solidFill>
                <a:latin typeface="Segoe UI"/>
              </a:rPr>
              <a:t>La version la plus récente est toujours en haut.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0000" y="2898000"/>
            <a:ext cx="10752119" cy="882000"/>
          </a:xfrm>
          <a:prstGeom prst="roundRect">
            <a:avLst>
              <a:gd name="adj" fmla="val 12000"/>
            </a:avLst>
          </a:prstGeom>
          <a:solidFill>
            <a:srgbClr val="1E1B26"/>
          </a:solidFill>
          <a:ln w="12700">
            <a:solidFill>
              <a:srgbClr val="332D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4000" rIns="32400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A49EB6"/>
                </a:solidFill>
                <a:latin typeface="Segoe UI"/>
              </a:rPr>
              <a:t>Tableau de bord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>
                <a:solidFill>
                  <a:srgbClr val="F3F1F8"/>
                </a:solidFill>
                <a:latin typeface="Consolas"/>
              </a:rPr>
              <a:t>http://127.0.0.1:4455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56059" y="3168000"/>
            <a:ext cx="4656059" cy="52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49EB6"/>
                </a:solidFill>
                <a:latin typeface="Segoe UI"/>
              </a:rPr>
              <a:t>S’ouvre aussi en double-cliquant sur l’icône près de l’horloge.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0000" y="3942000"/>
            <a:ext cx="10752119" cy="882000"/>
          </a:xfrm>
          <a:prstGeom prst="roundRect">
            <a:avLst>
              <a:gd name="adj" fmla="val 12000"/>
            </a:avLst>
          </a:prstGeom>
          <a:solidFill>
            <a:srgbClr val="1E1B26"/>
          </a:solidFill>
          <a:ln w="12700">
            <a:solidFill>
              <a:srgbClr val="332D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4000" rIns="32400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A49EB6"/>
                </a:solidFill>
                <a:latin typeface="Segoe UI"/>
              </a:rPr>
              <a:t>Tes réglages et tes codes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>
                <a:solidFill>
                  <a:srgbClr val="F3F1F8"/>
                </a:solidFill>
                <a:latin typeface="Consolas"/>
              </a:rPr>
              <a:t>%APPDATA%\StreamKit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6059" y="4212000"/>
            <a:ext cx="4656059" cy="52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49EB6"/>
                </a:solidFill>
                <a:latin typeface="Segoe UI"/>
              </a:rPr>
              <a:t>À ne jamais partager. Conservés d’une version à l’autre.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0000" y="4986000"/>
            <a:ext cx="10752119" cy="882000"/>
          </a:xfrm>
          <a:prstGeom prst="roundRect">
            <a:avLst>
              <a:gd name="adj" fmla="val 12000"/>
            </a:avLst>
          </a:prstGeom>
          <a:solidFill>
            <a:srgbClr val="1E1B26"/>
          </a:solidFill>
          <a:ln w="12700">
            <a:solidFill>
              <a:srgbClr val="332D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4000" rIns="32400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A49EB6"/>
                </a:solidFill>
                <a:latin typeface="Segoe UI"/>
              </a:rPr>
              <a:t>Overlay dans OBS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>
                <a:solidFill>
                  <a:srgbClr val="F3F1F8"/>
                </a:solidFill>
                <a:latin typeface="Consolas"/>
              </a:rPr>
              <a:t>Sources ▸ + ▸ Navigateur ▸ 1920 × 1080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56059" y="5256000"/>
            <a:ext cx="4656059" cy="52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49EB6"/>
                </a:solidFill>
                <a:latin typeface="Segoe UI"/>
              </a:rPr>
              <a:t>L’adresse se copie depuis l’écran du module.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0000" y="6372000"/>
            <a:ext cx="1075211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A49EB6"/>
                </a:solidFill>
                <a:latin typeface="Segoe UI"/>
              </a:rPr>
              <a:t>Un souci, une idée de module ? Envoie le journal du jour, tout y est écrit.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32119" y="6372000"/>
            <a:ext cx="144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35D75"/>
                </a:solidFill>
                <a:latin typeface="Segoe UI"/>
              </a:rPr>
              <a:t>16 / 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